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837348f14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837348f14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837348f14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837348f14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837348f14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837348f14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837348f14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4837348f14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4837348f1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4837348f1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837348f14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837348f14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to add model name here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86a08a31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86a08a31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8750ec69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8750ec69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882ab58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882ab58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837348f14_3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837348f14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837348f14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837348f14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837348f14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837348f14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837348f14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837348f14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86a08a3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86a08a3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837348f14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837348f14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Given that the all the pears are in a good condition.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8750ec69c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8750ec69c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8750ec69c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8750ec69c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Effect of climate change interventions on pear quality using Ecotron units</a:t>
            </a:r>
            <a:endParaRPr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-</a:t>
            </a:r>
            <a:endParaRPr>
              <a:solidFill>
                <a:srgbClr val="1155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Experimental Design and Sample Size Calculation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2527900"/>
            <a:ext cx="8520600" cy="20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PMHD Project - Group 10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Apu Chandra Bhowmick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Basma Lusta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Olurotimi Koleowo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Omar Ben Gadha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7 April 2025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Contents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Introduction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Research Question and Objectives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Study design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Hypothesis Test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Statistical Model / Analysis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Observation of Pilot Data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Parameters for Sample Size Calculation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Power Test-Based Sample Size Calculation</a:t>
            </a:r>
            <a:endParaRPr sz="1137">
              <a:solidFill>
                <a:schemeClr val="dk1"/>
              </a:solidFill>
            </a:endParaRPr>
          </a:p>
          <a:p>
            <a:pPr indent="-300831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Visualization of Sample Size Calculation</a:t>
            </a:r>
            <a:endParaRPr sz="1137">
              <a:solidFill>
                <a:schemeClr val="dk1"/>
              </a:solidFill>
            </a:endParaRPr>
          </a:p>
          <a:p>
            <a:pPr indent="-300831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Sample Size Analysis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Simulation-Based Sample Size Calculation</a:t>
            </a:r>
            <a:endParaRPr sz="1137">
              <a:solidFill>
                <a:schemeClr val="dk1"/>
              </a:solidFill>
            </a:endParaRPr>
          </a:p>
          <a:p>
            <a:pPr indent="-300831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Visualization of Sample Size Calculation</a:t>
            </a:r>
            <a:endParaRPr sz="1137">
              <a:solidFill>
                <a:schemeClr val="dk1"/>
              </a:solidFill>
            </a:endParaRPr>
          </a:p>
          <a:p>
            <a:pPr indent="-300831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Sample Size Analysis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Ecotron Capacity &amp; Allocation</a:t>
            </a:r>
            <a:endParaRPr sz="1137">
              <a:solidFill>
                <a:schemeClr val="dk1"/>
              </a:solidFill>
            </a:endParaRPr>
          </a:p>
          <a:p>
            <a:pPr indent="-300831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8"/>
              <a:buAutoNum type="arabicPeriod"/>
            </a:pPr>
            <a:r>
              <a:rPr lang="en" sz="1137">
                <a:solidFill>
                  <a:schemeClr val="dk1"/>
                </a:solidFill>
              </a:rPr>
              <a:t>Summary</a:t>
            </a:r>
            <a:endParaRPr sz="113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Introduction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Climate change poses increasing challenges to agricultural productivity and food quality worldwide.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Controlled-environment studies allow researchers to simulate future climate conditions and understand their impact on crops.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project uses Ecotron technology to simulate different climate scenarios and study their effects on pear production in Belgium.</a:t>
            </a:r>
            <a:endParaRPr sz="1500"/>
          </a:p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155CC"/>
                </a:solidFill>
              </a:rPr>
              <a:t>Research Question and Objectives</a:t>
            </a:r>
            <a:endParaRPr sz="2500">
              <a:solidFill>
                <a:srgbClr val="1155CC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500">
                <a:solidFill>
                  <a:schemeClr val="dk1"/>
                </a:solidFill>
              </a:rPr>
              <a:t>Research Question:</a:t>
            </a:r>
            <a:r>
              <a:rPr lang="en" sz="1500">
                <a:solidFill>
                  <a:schemeClr val="dk1"/>
                </a:solidFill>
              </a:rPr>
              <a:t> Which climate scenario improves pear quality the most?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500">
                <a:solidFill>
                  <a:schemeClr val="dk1"/>
                </a:solidFill>
              </a:rPr>
              <a:t>Overall Objective:</a:t>
            </a:r>
            <a:r>
              <a:rPr lang="en" sz="1500">
                <a:solidFill>
                  <a:schemeClr val="dk1"/>
                </a:solidFill>
              </a:rPr>
              <a:t> Study different climate change interventions on fruit production in Belgium.</a:t>
            </a:r>
            <a:endParaRPr sz="1500">
              <a:solidFill>
                <a:schemeClr val="dk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500">
                <a:solidFill>
                  <a:schemeClr val="dk1"/>
                </a:solidFill>
              </a:rPr>
              <a:t>Study Objective: </a:t>
            </a:r>
            <a:r>
              <a:rPr lang="en" sz="1500">
                <a:solidFill>
                  <a:schemeClr val="dk1"/>
                </a:solidFill>
              </a:rPr>
              <a:t>Identify the most favorable climate intervention for the best pear quality.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95150"/>
            <a:ext cx="8740800" cy="39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Control group:</a:t>
            </a:r>
            <a:r>
              <a:rPr lang="en" sz="1500">
                <a:solidFill>
                  <a:schemeClr val="dk1"/>
                </a:solidFill>
              </a:rPr>
              <a:t> Climate scenario 1.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Intervention groups:</a:t>
            </a:r>
            <a:r>
              <a:rPr lang="en" sz="1500">
                <a:solidFill>
                  <a:schemeClr val="dk1"/>
                </a:solidFill>
              </a:rPr>
              <a:t> Climate scenarios 2, 3, 4.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Blinding:</a:t>
            </a:r>
            <a:r>
              <a:rPr lang="en" sz="1500">
                <a:solidFill>
                  <a:schemeClr val="dk1"/>
                </a:solidFill>
              </a:rPr>
              <a:t> Single-blind — quality assessors were unaware of the climate scenario per Ecotron.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Randomization:</a:t>
            </a:r>
            <a:r>
              <a:rPr lang="en" sz="1500">
                <a:solidFill>
                  <a:schemeClr val="dk1"/>
                </a:solidFill>
              </a:rPr>
              <a:t> Stratified block randomization was used: climate scenarios were randomly assigned to Ecotron units, with equal pear species (3 trees per specie</a:t>
            </a:r>
            <a:r>
              <a:rPr lang="en" sz="1500">
                <a:solidFill>
                  <a:schemeClr val="dk1"/>
                </a:solidFill>
              </a:rPr>
              <a:t>s</a:t>
            </a:r>
            <a:r>
              <a:rPr lang="en" sz="1500">
                <a:solidFill>
                  <a:schemeClr val="dk1"/>
                </a:solidFill>
              </a:rPr>
              <a:t>) within each unit.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Duration/End of study:</a:t>
            </a:r>
            <a:r>
              <a:rPr lang="en" sz="1500">
                <a:solidFill>
                  <a:schemeClr val="dk1"/>
                </a:solidFill>
              </a:rPr>
              <a:t> Continue harvesting until the last harvestable pear is harvested.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Experimental units:</a:t>
            </a:r>
            <a:r>
              <a:rPr lang="en" sz="1500">
                <a:solidFill>
                  <a:schemeClr val="dk1"/>
                </a:solidFill>
              </a:rPr>
              <a:t> The harvested pears.</a:t>
            </a:r>
            <a:endParaRPr sz="1500"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77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155CC"/>
                </a:solidFill>
              </a:rPr>
              <a:t>Study design</a:t>
            </a:r>
            <a:endParaRPr sz="2500">
              <a:solidFill>
                <a:srgbClr val="1155CC"/>
              </a:solidFill>
            </a:endParaRPr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Hypothesis Test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8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Null Hypothesis (H₀):</a:t>
            </a:r>
            <a:endParaRPr b="1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is no significant difference in mean pear quality between climate intervention scenarios. The effect of climate change interventions on pear quality are the same/equal.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b="1" baseline="-25000"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= μ</a:t>
            </a:r>
            <a:r>
              <a:rPr b="1" baseline="-25000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µ</a:t>
            </a:r>
            <a:r>
              <a:rPr b="1" baseline="-25000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= µ</a:t>
            </a:r>
            <a:r>
              <a:rPr b="1" baseline="-25000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" sz="1850">
                <a:solidFill>
                  <a:schemeClr val="dk1"/>
                </a:solidFill>
              </a:rPr>
              <a:t>​</a:t>
            </a:r>
            <a:endParaRPr b="1" sz="185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2575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Alternative Hypothesis (H₁):</a:t>
            </a:r>
            <a:endParaRPr b="1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At least one climate intervention mean scenario significantly improves pear quality compared to the control scenario.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1" baseline="-25000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b="1" baseline="-25000" i="1"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baseline="-25000"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b="1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b="1" baseline="-25000" lang="en" sz="1850">
                <a:solidFill>
                  <a:srgbClr val="33333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>
                <a:solidFill>
                  <a:schemeClr val="dk1"/>
                </a:solidFill>
              </a:rPr>
              <a:t>	for at least one i	( i = 2, 3, 4)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highlight>
                <a:srgbClr val="FFFFFF"/>
              </a:highlight>
            </a:endParaRPr>
          </a:p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Statistical Model — Linear Mixed Effects Model (LMM)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45050" y="1370250"/>
            <a:ext cx="8853900" cy="3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+ 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*(Scenario)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2k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+ 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*(Scenario)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3k 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*(Scenario)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4k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+ 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*(Variety)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+ b</a:t>
            </a:r>
            <a:r>
              <a:rPr b="1" baseline="-25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+ ε</a:t>
            </a:r>
            <a:r>
              <a:rPr b="1" baseline="-25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ki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Where: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=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1600">
                <a:solidFill>
                  <a:schemeClr val="dk1"/>
                </a:solidFill>
              </a:rPr>
              <a:t>Quality score of pear i from tree k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= Control groups (climate scenario 1 and pear variety: Conference)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= Fixed effects of different climate intervention scenarios compared to the control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b="1" baseline="-25000" lang="en" sz="1600">
                <a:solidFill>
                  <a:srgbClr val="001D35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</a:rPr>
              <a:t>= Fixed effect of pear variety</a:t>
            </a:r>
            <a:endParaRPr sz="150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baseline="-25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600">
                <a:solidFill>
                  <a:srgbClr val="262626"/>
                </a:solidFill>
                <a:highlight>
                  <a:srgbClr val="FFFFFF"/>
                </a:highlight>
              </a:rPr>
              <a:t>= Random effect for trees  N(0, </a:t>
            </a: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baseline="30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-25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600">
                <a:solidFill>
                  <a:srgbClr val="262626"/>
                </a:solidFill>
                <a:highlight>
                  <a:srgbClr val="FFFFFF"/>
                </a:highlight>
              </a:rPr>
              <a:t>)</a:t>
            </a:r>
            <a:endParaRPr sz="160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ε</a:t>
            </a:r>
            <a:r>
              <a:rPr b="1" baseline="-25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ki</a:t>
            </a:r>
            <a:r>
              <a:rPr lang="en" sz="1600">
                <a:solidFill>
                  <a:srgbClr val="262626"/>
                </a:solidFill>
                <a:highlight>
                  <a:srgbClr val="FFFFFF"/>
                </a:highlight>
              </a:rPr>
              <a:t>= Residual error i.i.d N(0, </a:t>
            </a: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baseline="30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-25000" lang="en" sz="1600">
                <a:solidFill>
                  <a:srgbClr val="1F1F1F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ki</a:t>
            </a:r>
            <a:r>
              <a:rPr lang="en" sz="1600">
                <a:solidFill>
                  <a:srgbClr val="262626"/>
                </a:solidFill>
                <a:highlight>
                  <a:srgbClr val="FFFFFF"/>
                </a:highlight>
              </a:rPr>
              <a:t>)</a:t>
            </a:r>
            <a:endParaRPr sz="1600"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448400"/>
            <a:ext cx="85206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</a:t>
            </a:r>
            <a:r>
              <a:rPr lang="en" sz="1500">
                <a:solidFill>
                  <a:schemeClr val="dk1"/>
                </a:solidFill>
              </a:rPr>
              <a:t>urpose: to estimate the mean and standard deviation (SD) of pear quality to inform sample size calculations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Total pears: 591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Source: Collected from Ecotron units under climate scenario 1 (Control group)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Varieties: Conference &amp; Doyenne du Comice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Quality scale: 0 to 100</a:t>
            </a:r>
            <a:endParaRPr sz="1500"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1155CC"/>
                </a:solidFill>
              </a:rPr>
              <a:t>Pilot Data Summary</a:t>
            </a:r>
            <a:endParaRPr sz="2500">
              <a:solidFill>
                <a:srgbClr val="1155CC"/>
              </a:solidFill>
            </a:endParaRPr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46775" y="45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155CC"/>
                </a:solidFill>
              </a:rPr>
              <a:t>Parameters for Sample Size Calculation</a:t>
            </a:r>
            <a:endParaRPr sz="2500">
              <a:solidFill>
                <a:srgbClr val="1155CC"/>
              </a:solidFill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433175"/>
            <a:ext cx="8520600" cy="30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Significance level (α)</a:t>
            </a:r>
            <a:r>
              <a:rPr lang="en" sz="1500">
                <a:solidFill>
                  <a:schemeClr val="dk1"/>
                </a:solidFill>
              </a:rPr>
              <a:t>: 0.05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Mean value : 51.08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Standard Deviation: 35.9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Effect size: from 10 to 25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Power level: from 80% to 90%</a:t>
            </a:r>
            <a:endParaRPr sz="1500"/>
          </a:p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235500" y="33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>
                <a:solidFill>
                  <a:srgbClr val="1155CC"/>
                </a:solidFill>
              </a:rPr>
              <a:t>Sample Size Estimation Methods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259875" y="789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chemeClr val="lt1"/>
                </a:highlight>
              </a:rPr>
              <a:t>1. </a:t>
            </a:r>
            <a:r>
              <a:rPr lang="en" sz="1700">
                <a:solidFill>
                  <a:schemeClr val="dk1"/>
                </a:solidFill>
              </a:rPr>
              <a:t>Power Test-Based Sample Size Calculation Method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Used R’s power.t.test() function</a:t>
            </a:r>
            <a:b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One-sided two-sample t-test</a:t>
            </a:r>
            <a:b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</a:b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Inputs: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Effect size (10 -25)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P-value : 0.05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Standard deviation from pilot data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Target power (80% - 90%)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Output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required sample size per group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36825" y="210925"/>
            <a:ext cx="733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Visualization of Sample Size Calculation 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23" name="Google Shape;123;p23" title="00001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975" y="783624"/>
            <a:ext cx="7334075" cy="43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43975" y="223725"/>
            <a:ext cx="698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Power Test-Based Sample Size Table</a:t>
            </a:r>
            <a:r>
              <a:rPr lang="en">
                <a:solidFill>
                  <a:srgbClr val="1155CC"/>
                </a:solidFill>
              </a:rPr>
              <a:t> 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0" y="871500"/>
            <a:ext cx="9207300" cy="42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Table 1:  the sample size of different level of power, effect size (10-25), and significance level of (0.05)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1" name="Google Shape;131;p24" title="Screenshot 2025-04-05 0239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163" y="1319275"/>
            <a:ext cx="6878275" cy="365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1155CC"/>
                </a:solidFill>
              </a:rPr>
              <a:t>Sample Size Estimation Methods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771475"/>
            <a:ext cx="8520600" cy="3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2- </a:t>
            </a:r>
            <a:r>
              <a:rPr lang="en" sz="1700">
                <a:solidFill>
                  <a:schemeClr val="dk1"/>
                </a:solidFill>
              </a:rPr>
              <a:t>Simulation-Based Sample Size Calculation Method</a:t>
            </a:r>
            <a:endParaRPr sz="17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Simulated data for Control and 3 Climate Scenarios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Quality scores assumed to follow a normal distribution.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 -  Mean and standard deviation taken from pilot data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For each simulation: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Performed three one-sided t-tests (each scenario vs. control)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Applied Bonferroni correction for multiple comparisons (0.05 / 3)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Counted as a success if at least one scenario significantly outperformed control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500">
                <a:solidFill>
                  <a:schemeClr val="dk1"/>
                </a:solidFill>
              </a:rPr>
              <a:t>Estimated power = Proportion of successful simulations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189950" y="113600"/>
            <a:ext cx="7206600" cy="3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220">
                <a:solidFill>
                  <a:srgbClr val="1155CC"/>
                </a:solidFill>
              </a:rPr>
              <a:t>Visualization of Sample Size Calculation </a:t>
            </a:r>
            <a:endParaRPr sz="2220">
              <a:solidFill>
                <a:srgbClr val="1155CC"/>
              </a:solidFill>
            </a:endParaRPr>
          </a:p>
        </p:txBody>
      </p:sp>
      <p:pic>
        <p:nvPicPr>
          <p:cNvPr id="145" name="Google Shape;145;p26" title="Screenshot 2025-04-04 2159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412" y="626400"/>
            <a:ext cx="6367176" cy="451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29825" y="226925"/>
            <a:ext cx="707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Simulation-Based Sample Size Table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0" y="799625"/>
            <a:ext cx="8955300" cy="43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Table 2 : Estimated Sample Sizes by Effect Size and Power (Bonferroni α = 0.017)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3" name="Google Shape;153;p27" title="Screenshot 2025-04-05 0234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150" y="1604525"/>
            <a:ext cx="7557850" cy="35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Ecotron Capacity &amp; Allocation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12 Ecotron units available in Belgium.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12 optional Ecotron units available in France if needed.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Ecotron unit can contain 6 trees at maximum.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tree produces 30–40 pears per yield.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Therefore, each unit yields: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Minimum: 6 × 30 = 180 pears.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Maximum: 6 × 40 = 240 pears</a:t>
            </a:r>
            <a:r>
              <a:rPr lang="en" sz="1500"/>
              <a:t>.</a:t>
            </a:r>
            <a:endParaRPr sz="1500"/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Summary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357100"/>
            <a:ext cx="8520600" cy="32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Goal:</a:t>
            </a:r>
            <a:r>
              <a:rPr lang="en" sz="1500">
                <a:solidFill>
                  <a:schemeClr val="dk1"/>
                </a:solidFill>
              </a:rPr>
              <a:t> Identify the climate intervention scenario that results in the highest pear quality under controlled Ecotron conditions.</a:t>
            </a:r>
            <a:endParaRPr sz="15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500">
                <a:solidFill>
                  <a:schemeClr val="dk1"/>
                </a:solidFill>
              </a:rPr>
              <a:t>Sample Size Estimate</a:t>
            </a:r>
            <a:r>
              <a:rPr lang="en" sz="1500">
                <a:solidFill>
                  <a:schemeClr val="dk1"/>
                </a:solidFill>
              </a:rPr>
              <a:t>: 160–220 pears per group </a:t>
            </a:r>
            <a:r>
              <a:rPr lang="en" sz="1500">
                <a:solidFill>
                  <a:schemeClr val="dk1"/>
                </a:solidFill>
              </a:rPr>
              <a:t>depends</a:t>
            </a:r>
            <a:r>
              <a:rPr lang="en" sz="1500">
                <a:solidFill>
                  <a:schemeClr val="dk1"/>
                </a:solidFill>
              </a:rPr>
              <a:t> on methods (power t-test or simulation methods).</a:t>
            </a:r>
            <a:endParaRPr sz="19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Next Steps:</a:t>
            </a:r>
            <a:r>
              <a:rPr lang="en" sz="1500">
                <a:solidFill>
                  <a:schemeClr val="dk1"/>
                </a:solidFill>
              </a:rPr>
              <a:t> Finalize Ecotron unit allocation and confirm design with sponsors and professors.</a:t>
            </a:r>
            <a:endParaRPr sz="1500"/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